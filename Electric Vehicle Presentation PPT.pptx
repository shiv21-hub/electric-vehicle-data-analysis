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30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059F9-E1D7-4B70-98EF-5B7FCD8B5EFD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4D02D-9ED9-4470-ABDA-7440EF5A35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142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059F9-E1D7-4B70-98EF-5B7FCD8B5EFD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4D02D-9ED9-4470-ABDA-7440EF5A35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4209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059F9-E1D7-4B70-98EF-5B7FCD8B5EFD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4D02D-9ED9-4470-ABDA-7440EF5A35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1767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059F9-E1D7-4B70-98EF-5B7FCD8B5EFD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4D02D-9ED9-4470-ABDA-7440EF5A35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419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059F9-E1D7-4B70-98EF-5B7FCD8B5EFD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4D02D-9ED9-4470-ABDA-7440EF5A35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0291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059F9-E1D7-4B70-98EF-5B7FCD8B5EFD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4D02D-9ED9-4470-ABDA-7440EF5A35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5691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059F9-E1D7-4B70-98EF-5B7FCD8B5EFD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4D02D-9ED9-4470-ABDA-7440EF5A35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5969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059F9-E1D7-4B70-98EF-5B7FCD8B5EFD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4D02D-9ED9-4470-ABDA-7440EF5A35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274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059F9-E1D7-4B70-98EF-5B7FCD8B5EFD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4D02D-9ED9-4470-ABDA-7440EF5A35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1324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059F9-E1D7-4B70-98EF-5B7FCD8B5EFD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4D02D-9ED9-4470-ABDA-7440EF5A35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625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059F9-E1D7-4B70-98EF-5B7FCD8B5EFD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4D02D-9ED9-4470-ABDA-7440EF5A35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67128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059F9-E1D7-4B70-98EF-5B7FCD8B5EFD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4D02D-9ED9-4470-ABDA-7440EF5A3572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668827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059F9-E1D7-4B70-98EF-5B7FCD8B5EFD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4D02D-9ED9-4470-ABDA-7440EF5A35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0477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059F9-E1D7-4B70-98EF-5B7FCD8B5EFD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4D02D-9ED9-4470-ABDA-7440EF5A35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35289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059F9-E1D7-4B70-98EF-5B7FCD8B5EFD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4D02D-9ED9-4470-ABDA-7440EF5A35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4094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059F9-E1D7-4B70-98EF-5B7FCD8B5EFD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4D02D-9ED9-4470-ABDA-7440EF5A35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36773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059F9-E1D7-4B70-98EF-5B7FCD8B5EFD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4D02D-9ED9-4470-ABDA-7440EF5A35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7100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E059F9-E1D7-4B70-98EF-5B7FCD8B5EFD}" type="datetimeFigureOut">
              <a:rPr lang="en-IN" smtClean="0"/>
              <a:t>16-03-2026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34D02D-9ED9-4470-ABDA-7440EF5A35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69207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F1BD3-BE58-2125-7C4D-1CE926B06D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4525" y="100584"/>
            <a:ext cx="9001462" cy="850392"/>
          </a:xfrm>
        </p:spPr>
        <p:txBody>
          <a:bodyPr>
            <a:normAutofit fontScale="90000"/>
          </a:bodyPr>
          <a:lstStyle/>
          <a:p>
            <a:pPr algn="l"/>
            <a:r>
              <a:rPr lang="en-IN" sz="2400" dirty="0"/>
              <a:t> </a:t>
            </a:r>
            <a:br>
              <a:rPr lang="en-IN" sz="2400" dirty="0"/>
            </a:br>
            <a:br>
              <a:rPr lang="en-IN" sz="2400" dirty="0"/>
            </a:br>
            <a:br>
              <a:rPr lang="en-IN" sz="2400" dirty="0"/>
            </a:br>
            <a:r>
              <a:rPr lang="en-IN" sz="2400" dirty="0"/>
              <a:t> </a:t>
            </a: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KPI’S Requirement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35D05B-7AE0-C8C9-7346-2619E79E01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7473" y="950976"/>
            <a:ext cx="11704320" cy="5806440"/>
          </a:xfrm>
        </p:spPr>
        <p:txBody>
          <a:bodyPr>
            <a:noAutofit/>
          </a:bodyPr>
          <a:lstStyle/>
          <a:p>
            <a:pPr lvl="0" algn="l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/>
            </a:pPr>
            <a:r>
              <a:rPr lang="en-US" sz="1800" b="1" dirty="0">
                <a:solidFill>
                  <a:srgbClr val="70AD47">
                    <a:lumMod val="60000"/>
                    <a:lumOff val="40000"/>
                  </a:srgb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Total Vehicles:</a:t>
            </a:r>
            <a:endParaRPr lang="en-US" sz="1800" dirty="0">
              <a:solidFill>
                <a:srgbClr val="70AD47">
                  <a:lumMod val="60000"/>
                  <a:lumOff val="40000"/>
                </a:srgb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sysClr val="window" lastClr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overall landscape of electric vehicles, encompassing both BEVs and PHEVs, to assess the market's size and growth.</a:t>
            </a:r>
          </a:p>
          <a:p>
            <a:pPr lvl="0" algn="l">
              <a:lnSpc>
                <a:spcPct val="150000"/>
              </a:lnSpc>
              <a:spcBef>
                <a:spcPts val="0"/>
              </a:spcBef>
              <a:defRPr/>
            </a:pPr>
            <a:r>
              <a:rPr lang="en-US" sz="1800" b="1" dirty="0">
                <a:solidFill>
                  <a:srgbClr val="70AD47">
                    <a:lumMod val="60000"/>
                    <a:lumOff val="40000"/>
                  </a:srgb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Average Electric Range:</a:t>
            </a:r>
          </a:p>
          <a:p>
            <a:pPr marL="742950" lvl="1" indent="-285750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sysClr val="window" lastClr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average electric range of the electric vehicles in the dataset to gauge the technological advancements and efficiency of the EVs.</a:t>
            </a:r>
          </a:p>
          <a:p>
            <a:pPr lvl="0" algn="l">
              <a:lnSpc>
                <a:spcPct val="150000"/>
              </a:lnSpc>
              <a:spcBef>
                <a:spcPts val="0"/>
              </a:spcBef>
              <a:defRPr/>
            </a:pPr>
            <a:r>
              <a:rPr lang="en-US" sz="1800" b="1" dirty="0">
                <a:solidFill>
                  <a:srgbClr val="70AD47">
                    <a:lumMod val="60000"/>
                    <a:lumOff val="40000"/>
                  </a:srgb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Total BEV Vehicles and % of Total BEV Vehicles:</a:t>
            </a:r>
          </a:p>
          <a:p>
            <a:pPr marL="742950" lvl="1" indent="-285750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sysClr val="window" lastClr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and analyze the total number of Battery Electric Vehicles (BEVs) in the dataset.</a:t>
            </a:r>
          </a:p>
          <a:p>
            <a:pPr marL="742950" lvl="1" indent="-285750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sysClr val="window" lastClr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percentage of BEVs relative to the total number of electric vehicles, providing insights into the dominance of fully electric models.</a:t>
            </a:r>
          </a:p>
          <a:p>
            <a:pPr lvl="0" algn="l">
              <a:lnSpc>
                <a:spcPct val="150000"/>
              </a:lnSpc>
              <a:spcBef>
                <a:spcPts val="0"/>
              </a:spcBef>
              <a:defRPr/>
            </a:pPr>
            <a:r>
              <a:rPr lang="en-US" sz="1800" b="1" dirty="0">
                <a:solidFill>
                  <a:srgbClr val="70AD47">
                    <a:lumMod val="60000"/>
                    <a:lumOff val="40000"/>
                  </a:srgb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Total PHEV Vehicles and % of Total PHEV Vehicles:</a:t>
            </a:r>
          </a:p>
          <a:p>
            <a:pPr marL="742950" lvl="1" indent="-285750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sysClr val="window" lastClr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and analyze the total number of Plug-in Hybrid Electric Vehicles (PHEVs) in the dataset.</a:t>
            </a:r>
          </a:p>
          <a:p>
            <a:pPr marL="742950" lvl="1" indent="-285750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sysClr val="window" lastClr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percentage of PHEVs relative to the total number of electric vehicles, offering insights into the market share of plug-in hybrid models.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8094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60AEB-3C22-AED4-A016-80965B422C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98819"/>
            <a:ext cx="5265683" cy="624141"/>
          </a:xfrm>
        </p:spPr>
        <p:txBody>
          <a:bodyPr>
            <a:normAutofit fontScale="90000"/>
          </a:bodyPr>
          <a:lstStyle/>
          <a:p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18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Charts Requirement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8BC038-F9EC-DA5B-6CB2-A8478CE7FD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950975"/>
            <a:ext cx="11804904" cy="5708205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Total Vehicles by Model Year (From 2010 Onwards):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Visualization: Line/ Area Chart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Description: This chart will illustrate the distribution of electric vehicles over the years, starting from 2010, providing insights into the growth pattern and adoption trends.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2. Total Vehicles by State: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Visualization: Map Chart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Description: This chart will showcase the geographical distribution of electric vehicles across different states, allowing for the identification of regions with higher adoption rates.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3. Top 10 Total Vehicles by Make: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Visualization: Bar Chart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Description: Highlight the top 10 electric vehicle manufacturers based on the total number of vehicles, providing insights into the market dominance of specific brands.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4. Total Vehicles by CAFV Eligibility: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Visualization: Pie Chart or Donut Chart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Description: Illustrate the proportion of electric vehicles that are eligible for Clean Alternative Fuel Vehicle (CAFV) incentives, aiding in understanding the impact of incentives on vehicle adoption.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5. Top 10 Total Vehicles by Model: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Visualization: Tree map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Description: Highlight the top 10 electric vehicle models based on the total number of vehicles, offering insights into consumer preferences and popular models in the market.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78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0827D-6554-D31D-6D1B-6A9EC7C9A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471" y="270641"/>
            <a:ext cx="10353761" cy="3071648"/>
          </a:xfrm>
        </p:spPr>
        <p:txBody>
          <a:bodyPr>
            <a:normAutofit/>
          </a:bodyPr>
          <a:lstStyle/>
          <a:p>
            <a:pPr algn="l"/>
            <a:r>
              <a:rPr kumimoji="0" lang="en-IN" sz="2800" b="1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SOFTWARES USED</a:t>
            </a:r>
            <a:br>
              <a:rPr kumimoji="0" lang="en-IN" sz="2400" b="1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br>
              <a:rPr kumimoji="0" lang="en-IN" sz="2400" b="1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br>
              <a:rPr kumimoji="0" lang="en-IN" sz="2400" b="1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MS OFFICE/ EXCEL: 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latest</a:t>
            </a:r>
            <a:r>
              <a:rPr lang="en-IN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VERSION</a:t>
            </a:r>
            <a:br>
              <a:rPr lang="en-IN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tableau: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latest </a:t>
            </a:r>
            <a:r>
              <a:rPr lang="en-IN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Version </a:t>
            </a:r>
            <a:br>
              <a:rPr lang="en-IN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IN" sz="2400" b="1" i="0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32022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Custom 2">
      <a:dk1>
        <a:sysClr val="windowText" lastClr="000000"/>
      </a:dk1>
      <a:lt1>
        <a:sysClr val="window" lastClr="FFFFFF"/>
      </a:lt1>
      <a:dk2>
        <a:srgbClr val="7ABA5F"/>
      </a:dk2>
      <a:lt2>
        <a:srgbClr val="B1D7A1"/>
      </a:lt2>
      <a:accent1>
        <a:srgbClr val="81B992"/>
      </a:accent1>
      <a:accent2>
        <a:srgbClr val="7ABA5F"/>
      </a:accent2>
      <a:accent3>
        <a:srgbClr val="BDB564"/>
      </a:accent3>
      <a:accent4>
        <a:srgbClr val="BD8964"/>
      </a:accent4>
      <a:accent5>
        <a:srgbClr val="BD6466"/>
      </a:accent5>
      <a:accent6>
        <a:srgbClr val="64A4BD"/>
      </a:accent6>
      <a:hlink>
        <a:srgbClr val="8CCC71"/>
      </a:hlink>
      <a:folHlink>
        <a:srgbClr val="A4C795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4539428D-6454-4FE6-B992-2D59F0AC2F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52</TotalTime>
  <Words>416</Words>
  <Application>Microsoft Office PowerPoint</Application>
  <PresentationFormat>Widescreen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Bookman Old Style</vt:lpstr>
      <vt:lpstr>Rockwell</vt:lpstr>
      <vt:lpstr>Times New Roman</vt:lpstr>
      <vt:lpstr>Damask</vt:lpstr>
      <vt:lpstr>     PROBLEM STATEMENT  KPI’S Requirement</vt:lpstr>
      <vt:lpstr>PROBLEM STATEMENT  Charts Requirement</vt:lpstr>
      <vt:lpstr>SOFTWARES USED   1. MS OFFICE/ EXCEL: latest VERSION  2. tableau: latest Version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shivam Hande</dc:creator>
  <cp:lastModifiedBy>shivam Hande</cp:lastModifiedBy>
  <cp:revision>2</cp:revision>
  <dcterms:created xsi:type="dcterms:W3CDTF">2026-03-16T17:57:57Z</dcterms:created>
  <dcterms:modified xsi:type="dcterms:W3CDTF">2026-03-16T18:50:47Z</dcterms:modified>
</cp:coreProperties>
</file>